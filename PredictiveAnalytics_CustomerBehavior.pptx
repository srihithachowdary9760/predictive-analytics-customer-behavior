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Age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&lt;25</c:v>
                  </c:pt>
                  <c:pt idx="1">
                    <c:v>25–35</c:v>
                  </c:pt>
                  <c:pt idx="2">
                    <c:v>35–50</c:v>
                  </c:pt>
                  <c:pt idx="3">
                    <c:v>50–65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165</c:v>
                </c:pt>
                <c:pt idx="2">
                  <c:v>155</c:v>
                </c:pt>
                <c:pt idx="3">
                  <c:v>90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Income Range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8FA8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</c:v>
                </c:pt>
                <c:pt idx="1">
                  <c:v>55</c:v>
                </c:pt>
                <c:pt idx="2">
                  <c:v>23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Gender vs. Churn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</c:v>
                </c:pt>
                <c:pt idx="1">
                  <c:v>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777240"/>
            <a:ext cx="914400" cy="91440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9829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FOR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067044" y="3520440"/>
            <a:ext cx="54864" cy="548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22376" y="4617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C4A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9536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Chandrika Cirimamilla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65576" y="4617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C4A"/>
          </a:solidFill>
          <a:ln/>
        </p:spPr>
      </p:sp>
      <p:sp>
        <p:nvSpPr>
          <p:cNvPr id="11" name="Text 8"/>
          <p:cNvSpPr/>
          <p:nvPr/>
        </p:nvSpPr>
        <p:spPr>
          <a:xfrm>
            <a:off x="3602736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02736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08776" y="4617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C4A"/>
          </a:solidFill>
          <a:ln/>
        </p:spPr>
      </p:sp>
      <p:sp>
        <p:nvSpPr>
          <p:cNvPr id="14" name="Text 11"/>
          <p:cNvSpPr/>
          <p:nvPr/>
        </p:nvSpPr>
        <p:spPr>
          <a:xfrm>
            <a:off x="6345936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45936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Nyeras Technologies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951976" y="4617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C4A"/>
          </a:solidFill>
          <a:ln/>
        </p:spPr>
      </p:sp>
      <p:sp>
        <p:nvSpPr>
          <p:cNvPr id="17" name="Text 14"/>
          <p:cNvSpPr/>
          <p:nvPr/>
        </p:nvSpPr>
        <p:spPr>
          <a:xfrm>
            <a:off x="9089136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089136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6309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is used to analyze data and predict future outcomes.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businesses understand customer behavior.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predicting customer churn using machine learning.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55448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23960" y="219456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5374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Insight → Prediction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4251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historical customer data into forward-looking decisions.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828800"/>
            <a:ext cx="9144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●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lose customers without knowing the reason.</a:t>
            </a:r>
            <a:endParaRPr lang="en-US" sz="1900" dirty="0"/>
          </a:p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●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difficult to identify customers who may leave.</a:t>
            </a:r>
            <a:endParaRPr lang="en-US" sz="1900" dirty="0"/>
          </a:p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●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needed to predict churn.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predictive insight, retention efforts remain reactive instead of proactive.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3796" y="1691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8116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282" y="23797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79676" y="1947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Customer Churn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79676" y="2468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flag at-risk customers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23076" y="1691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97396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562" y="2379726"/>
            <a:ext cx="452628" cy="4526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8956" y="1947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Behavior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648956" y="2468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patterns behind customer decisions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53796" y="39319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8116" y="4434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82" y="4620006"/>
            <a:ext cx="452628" cy="4526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79676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79676" y="4709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reliable churn prediction model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23076" y="39319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97396" y="4434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562" y="4620006"/>
            <a:ext cx="452628" cy="4526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8956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Retention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648956" y="4709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proactive retention strategies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14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4251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44165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foundation for model training and evaluation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2514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Count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more...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046720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321040" y="306324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Stay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321040" y="384048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Leave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8348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1328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48132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508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122676" y="2948940"/>
            <a:ext cx="219456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60420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97580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4748" y="2948940"/>
            <a:ext cx="219456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2492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05472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20547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9652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46820" y="2948940"/>
            <a:ext cx="219456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4564" y="1874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67544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6754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21724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8348" y="4663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81328" y="4892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481328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" y="5669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(80:20)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122676" y="5737860"/>
            <a:ext cx="219456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0420" y="4663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43400" y="4892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497580" y="5669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training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84748" y="5737860"/>
            <a:ext cx="219456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22492" y="4663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5472" y="4892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205472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59652" y="5669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846820" y="5737860"/>
            <a:ext cx="219456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84564" y="46634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067544" y="4892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10067544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21724" y="5669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shows most customers are 25–50 years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mostly in medium range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churn patterns analyzed</a:t>
            </a:r>
            <a:endParaRPr lang="en-US" sz="16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434840" y="160020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8138160" y="1600200"/>
          <a:ext cx="3429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4434840" y="4526280"/>
          <a:ext cx="71323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028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40280" y="2423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learning method well-suited to structured, tabular business data.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657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" y="4086225"/>
            <a:ext cx="377190" cy="3771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73736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126480" y="3657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13" name="Shape 9"/>
          <p:cNvSpPr/>
          <p:nvPr/>
        </p:nvSpPr>
        <p:spPr>
          <a:xfrm>
            <a:off x="6355080" y="3931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85" y="4086225"/>
            <a:ext cx="377190" cy="377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22376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40080" y="51206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5394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" y="5549265"/>
            <a:ext cx="377190" cy="3771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5303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737360" y="5623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(churn prediction)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126480" y="51206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23" name="Shape 17"/>
          <p:cNvSpPr/>
          <p:nvPr/>
        </p:nvSpPr>
        <p:spPr>
          <a:xfrm>
            <a:off x="6355080" y="53949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385" y="5549265"/>
            <a:ext cx="377190" cy="37719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23760" y="5303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223760" y="5623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well with structured data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4572000" cy="4114800"/>
          </a:xfrm>
          <a:prstGeom prst="roundRect">
            <a:avLst>
              <a:gd name="adj" fmla="val 311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514600" y="4434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766" y="462000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data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201168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011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performance on test data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5577840" y="315468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14" name="Shape 10"/>
          <p:cNvSpPr/>
          <p:nvPr/>
        </p:nvSpPr>
        <p:spPr>
          <a:xfrm>
            <a:off x="5806440" y="3337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4472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154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predicts customer churn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5577840" y="429768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/>
        </p:spPr>
      </p:sp>
      <p:sp>
        <p:nvSpPr>
          <p:cNvPr id="18" name="Shape 13"/>
          <p:cNvSpPr/>
          <p:nvPr/>
        </p:nvSpPr>
        <p:spPr>
          <a:xfrm>
            <a:off x="5806440" y="4480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459028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4297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using an unseen 20% test split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correct and incorrect predictions — used to evaluate model performance.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12064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206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(0)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751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(1)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 rot="16200000">
            <a:off x="214884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(0)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77440" y="4114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(1)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66160" y="196596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E7F4EC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3055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96596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BEBEB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13055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120640" y="28346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5204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FBEBEB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8503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566160" y="4389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3520440"/>
            <a:ext cx="1481328" cy="1481328"/>
          </a:xfrm>
          <a:prstGeom prst="roundRect">
            <a:avLst>
              <a:gd name="adj" fmla="val 4938"/>
            </a:avLst>
          </a:prstGeom>
          <a:solidFill>
            <a:srgbClr val="E7F4EC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68503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120640" y="4389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100 customers (20% hold-out)  •  92 correctly classified  •  8 misclassified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762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94767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helps predict customer churn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24414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identification of at-risk customers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429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5935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36499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customer retention strategies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20240" y="38587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targeted, proactive engagement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846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50109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7823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business decision-making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20240" y="52760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customer data into actionable insight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0936" y="17830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42516" y="21488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4003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" y="3429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Real-World Datasets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05256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model on larger, real business data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9976" y="17830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91556" y="21488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4003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8576" y="3429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Advanced Models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654296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XGBoost and other boosting techniques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29016" y="17830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340596" y="21488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24003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7616" y="3429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Application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403336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predictions accessible through a live app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Customer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219227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 for Customer Behavior</dc:title>
  <dc:subject>PptxGenJS Presentation</dc:subject>
  <dc:creator>Chandrika Cirimamilla</dc:creator>
  <cp:lastModifiedBy>Chandrika Cirimamilla</cp:lastModifiedBy>
  <cp:revision>1</cp:revision>
  <dcterms:created xsi:type="dcterms:W3CDTF">2026-07-06T12:54:37Z</dcterms:created>
  <dcterms:modified xsi:type="dcterms:W3CDTF">2026-07-06T12:54:37Z</dcterms:modified>
</cp:coreProperties>
</file>